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103120"/>
            <a:ext cx="5943600" cy="5943600"/>
          </a:xfrm>
          <a:prstGeom prst="ellipse">
            <a:avLst/>
          </a:prstGeom>
          <a:solidFill>
            <a:srgbClr val="E8A3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914400"/>
            <a:ext cx="3108960" cy="310896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FUNDPILOT TR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Kitle Fonlama Kampanyalarında Başarı Tahmini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4069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Sınıflandırma (Binary Classification)  ·  XGBoost Tabanlı Karar Destek Modeli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YAPAY ZEKA PROJESİ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ve Veri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532120" cy="4892040"/>
          </a:xfrm>
          <a:prstGeom prst="roundRect">
            <a:avLst>
              <a:gd name="adj" fmla="val 2243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727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TANIMI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4892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kitle fonlama kampanyası başlamadan önce, kampanya öncesinde bilinen özellikler kullanılarak başarılı ya da başarısız olacağı tahmin edilmektedir.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değişken: basari_durumu (başarılı / başarısız)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türü: İkili sınıflandırma (Binary Classification)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 faydalı: Proje sahipleri ve kitle fonlama platformları için kampanya öncesi karar destek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 SETİ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176272"/>
            <a:ext cx="224028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1.628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300380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 (satır)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052560" y="201168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89720" y="2176272"/>
            <a:ext cx="224028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9189720" y="300380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379476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37960" y="3959352"/>
            <a:ext cx="224028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%76.9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78688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başarısız kampanya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52560" y="3794760"/>
            <a:ext cx="2514600" cy="1600200"/>
          </a:xfrm>
          <a:prstGeom prst="roundRect">
            <a:avLst>
              <a:gd name="adj" fmla="val 6857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89720" y="3959352"/>
            <a:ext cx="224028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%23.1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478688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başarılı kampanya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55778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dengesizdir: değerlendirmede yalnızca accuracy değil, precision, recall, F1-score ve balanced accuracy birlikte kullanılmıştır.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Veriden final modele giden adımlar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10424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Temizleme &amp;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Kontrolü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 sonrası oluşan / sonucu yansıtan değişkenler çıkarıldı.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Keşifçi Veri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 (EDA)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kategori, video ve bölge etkileri incelendi.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102352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dijital_varlik_sayisi: video + web sitesi + sosyal medya.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01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42632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→ Random Forest → XGBoost, cross-validation ile.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241280" y="160020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2412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Eşiği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Optimizasyonu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582912" y="3291840"/>
            <a:ext cx="19568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Eşik, yalnızca eğitim verisi CV tahminlerinden belirlendi.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440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seçimi kriteri: </a:t>
            </a:r>
            <a:pPr algn="l" indent="0" marL="0">
              <a:buNone/>
            </a:pPr>
            <a:r>
              <a:rPr lang="en-US" sz="12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F1-score. Nihai model, tek bir test seti sonucuna değil, 5 katlı stratified CV karşılaştırmasına dayanılarak seçilmiştir.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Sonuç: Final Model Performansı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Hiperparametre optimizasyonlu XGBoost · optimize edilmiş karar eşiği ile test seti sonuçları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673352"/>
            <a:ext cx="2267712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%84.4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57577"/>
            <a:ext cx="2267712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18688" y="1508760"/>
            <a:ext cx="2542032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55848" y="1673352"/>
            <a:ext cx="2267712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0.653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2557577"/>
            <a:ext cx="2267712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(başarılı sınıf)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542032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85800" y="3502152"/>
            <a:ext cx="2267712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0.772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386377"/>
            <a:ext cx="2267712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18688" y="3337560"/>
            <a:ext cx="2542032" cy="1691640"/>
          </a:xfrm>
          <a:prstGeom prst="roundRect">
            <a:avLst>
              <a:gd name="adj" fmla="val 6486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55848" y="3502152"/>
            <a:ext cx="2267712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0.451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3355848" y="4386377"/>
            <a:ext cx="2267712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Eşiği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5257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doğruluğu (%95.6) test doğruluğuna göre bir miktar yüksektir; ancak baseline Decision Tree'deki %100–%79.4 farkına kıyasla bu fark sınırlıdır.</a:t>
            </a:r>
            <a:endParaRPr lang="en-US" sz="1150" dirty="0"/>
          </a:p>
        </p:txBody>
      </p:sp>
      <p:pic>
        <p:nvPicPr>
          <p:cNvPr id="17" name="Image 0" descr="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508760"/>
            <a:ext cx="5349240" cy="299008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263640" y="457200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modelinde en belirleyici özellikler — tanıtım videosu varlığı açık farkla öne çıkmaktadır.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931920"/>
            <a:ext cx="5486400" cy="5486400"/>
          </a:xfrm>
          <a:prstGeom prst="ellipse">
            <a:avLst/>
          </a:prstGeom>
          <a:solidFill>
            <a:srgbClr val="CADCF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Sınırlılıklar ve Karar Destek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91640"/>
            <a:ext cx="7498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Gözlenen ilişkiler nedensellik göstermemektedir; model yalnızca veri setindeki örüntüleri yansıtır.</a:t>
            </a:r>
            <a:endParaRPr lang="en-US" sz="1650" dirty="0"/>
          </a:p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kategori, platform ve bölge gruplarında gözlem sayısı düşüktür.</a:t>
            </a:r>
            <a:endParaRPr lang="en-US" sz="1650" dirty="0"/>
          </a:p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dengesizdir (%76.9 başarısız / %23.1 başarılı).</a:t>
            </a:r>
            <a:endParaRPr lang="en-US" sz="1650" dirty="0"/>
          </a:p>
          <a:p>
            <a:pPr algn="l"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hatalı pozitif ve hatalı negatif tahminler üretmeye devam etmektedir.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31520" y="50749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26347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507492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FundPilot TR, kesin bir yatırım ya da fonlama kararı vermez; kampanya öncesi bir karar destek aracı olarak geliştirilmiştir.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2026-09-21T15:10:09Z</dcterms:created>
  <dcterms:modified xsi:type="dcterms:W3CDTF">2026-09-21T15:10:09Z</dcterms:modified>
</cp:coreProperties>
</file>